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20CBA-B85F-C556-9144-24CEF395F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992" y="511628"/>
            <a:ext cx="10998008" cy="3875314"/>
          </a:xfrm>
        </p:spPr>
        <p:txBody>
          <a:bodyPr>
            <a:normAutofit/>
          </a:bodyPr>
          <a:lstStyle/>
          <a:p>
            <a:pPr algn="ctr"/>
            <a:r>
              <a:rPr lang="es-ES" sz="3200" b="1" dirty="0"/>
              <a:t>Seguridad de la Información y Gobierno de TI</a:t>
            </a:r>
            <a:br>
              <a:rPr lang="es-ES" sz="3200" b="1" dirty="0"/>
            </a:br>
            <a:br>
              <a:rPr lang="es-ES" sz="3200" b="1" dirty="0"/>
            </a:br>
            <a:br>
              <a:rPr lang="es-ES" sz="3200" dirty="0"/>
            </a:br>
            <a:r>
              <a:rPr lang="es-ES" sz="3200" dirty="0"/>
              <a:t>ISO/IEC 27001 y COBIT 5</a:t>
            </a:r>
            <a:br>
              <a:rPr lang="es-ES" sz="3200" dirty="0"/>
            </a:br>
            <a:r>
              <a:rPr lang="es-ES" sz="3200" dirty="0"/>
              <a:t>Actividad académica – Buenas prácticas de seguridad</a:t>
            </a:r>
            <a:br>
              <a:rPr lang="es-ES" sz="3200" dirty="0"/>
            </a:br>
            <a:br>
              <a:rPr lang="es-ES" sz="3200" dirty="0"/>
            </a:br>
            <a:r>
              <a:rPr lang="es-ES" sz="3200" dirty="0"/>
              <a:t>Presentado por: Camilo Guilombo</a:t>
            </a:r>
            <a:br>
              <a:rPr lang="es-ES" sz="3200" dirty="0"/>
            </a:br>
            <a:endParaRPr lang="es-CO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FCDD0C-CFDF-7656-50DE-2E56709F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601" y="4090307"/>
            <a:ext cx="5341485" cy="244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57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CFE5E56-C842-07E7-5C3B-8316514CC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71"/>
          <a:stretch>
            <a:fillRect/>
          </a:stretch>
        </p:blipFill>
        <p:spPr>
          <a:xfrm>
            <a:off x="7070271" y="4862760"/>
            <a:ext cx="3578160" cy="18302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97561C-C2A3-C98F-3F83-6D4EED7A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2763" y="529391"/>
            <a:ext cx="5548102" cy="1074821"/>
          </a:xfrm>
        </p:spPr>
        <p:txBody>
          <a:bodyPr/>
          <a:lstStyle/>
          <a:p>
            <a:r>
              <a:rPr lang="es-CO" dirty="0"/>
              <a:t>Contexto del problema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CEC4484-DA47-22BD-C0D7-51CFF8B74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770" y="1604212"/>
            <a:ext cx="9904459" cy="3850103"/>
          </a:xfrm>
        </p:spPr>
        <p:txBody>
          <a:bodyPr>
            <a:normAutofit/>
          </a:bodyPr>
          <a:lstStyle/>
          <a:p>
            <a:r>
              <a:rPr lang="es-ES" sz="2400" dirty="0"/>
              <a:t>En un sistema informático ocurrió un incidente de seguridad debido a una mala práctica del usuario.</a:t>
            </a:r>
          </a:p>
          <a:p>
            <a:r>
              <a:rPr lang="es-ES" sz="2400" dirty="0"/>
              <a:t>El usuario dejó </a:t>
            </a:r>
            <a:r>
              <a:rPr lang="es-ES" sz="2400" b="1" dirty="0"/>
              <a:t>su cuenta abierta en un equipo</a:t>
            </a:r>
            <a:r>
              <a:rPr lang="es-ES" sz="2400" dirty="0"/>
              <a:t>, lo que permitió que otra persona utilizara esa sesión para </a:t>
            </a:r>
            <a:r>
              <a:rPr lang="es-ES" sz="2400" b="1" dirty="0"/>
              <a:t>manipular un repositorio</a:t>
            </a:r>
            <a:r>
              <a:rPr lang="es-ES" sz="2400" dirty="0"/>
              <a:t>.</a:t>
            </a:r>
          </a:p>
          <a:p>
            <a:r>
              <a:rPr lang="es-ES" sz="2400" dirty="0"/>
              <a:t>Esto representa un </a:t>
            </a:r>
            <a:r>
              <a:rPr lang="es-ES" sz="2400" b="1" dirty="0"/>
              <a:t>riesgo de seguridad</a:t>
            </a:r>
            <a:r>
              <a:rPr lang="es-ES" sz="2400" dirty="0"/>
              <a:t>, porque las acciones realizadas en un sistema quedan registradas con la </a:t>
            </a:r>
            <a:r>
              <a:rPr lang="es-ES" sz="2400" b="1" dirty="0"/>
              <a:t>identidad del usuario autenticado</a:t>
            </a:r>
            <a:r>
              <a:rPr lang="es-ES" sz="2400" dirty="0"/>
              <a:t>.</a:t>
            </a:r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894579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CE465-CBCF-0262-8D7A-EE5CDE82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56" y="441160"/>
            <a:ext cx="9905955" cy="1251284"/>
          </a:xfrm>
        </p:spPr>
        <p:txBody>
          <a:bodyPr/>
          <a:lstStyle/>
          <a:p>
            <a:r>
              <a:rPr lang="es-ES" dirty="0"/>
              <a:t>¿Por qué es un problema de seguridad?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49E533-F0E7-639C-08EA-03A1964FD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4018" y="2056828"/>
            <a:ext cx="8870583" cy="3577387"/>
          </a:xfrm>
        </p:spPr>
        <p:txBody>
          <a:bodyPr>
            <a:normAutofit/>
          </a:bodyPr>
          <a:lstStyle/>
          <a:p>
            <a:r>
              <a:rPr lang="es-ES" sz="2000" dirty="0"/>
              <a:t>Cuando una sesión queda abierta: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Otra persona puede acceder al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Puede modificar información o repositorios.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Las acciones quedan registradas con el usuario original.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Se pierde el control y la responsabilidad de las acciones.</a:t>
            </a:r>
          </a:p>
          <a:p>
            <a:r>
              <a:rPr lang="es-ES" sz="2000" dirty="0"/>
              <a:t>Esto puede generar </a:t>
            </a:r>
            <a:r>
              <a:rPr lang="es-ES" sz="2000" b="1" dirty="0"/>
              <a:t>daños en los sistemas y pérdida de información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C1B9A4-C748-D789-29C1-78104D5EB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990" y="2056828"/>
            <a:ext cx="3523354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22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BB664-520A-27F0-0499-83C9CC39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627" y="435429"/>
            <a:ext cx="9905955" cy="914400"/>
          </a:xfrm>
        </p:spPr>
        <p:txBody>
          <a:bodyPr/>
          <a:lstStyle/>
          <a:p>
            <a:r>
              <a:rPr lang="es-ES" dirty="0"/>
              <a:t>¿Qué es la Seguridad de la Información?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3CC6E4-12EE-BBF2-A804-0E9968612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274" y="1632857"/>
            <a:ext cx="9904459" cy="3592285"/>
          </a:xfrm>
        </p:spPr>
        <p:txBody>
          <a:bodyPr>
            <a:normAutofit/>
          </a:bodyPr>
          <a:lstStyle/>
          <a:p>
            <a:r>
              <a:rPr lang="es-ES" sz="2000" dirty="0"/>
              <a:t>La </a:t>
            </a:r>
            <a:r>
              <a:rPr lang="es-ES" sz="2000" b="1" dirty="0"/>
              <a:t>seguridad de la información</a:t>
            </a:r>
            <a:r>
              <a:rPr lang="es-ES" sz="2000" dirty="0"/>
              <a:t> es el conjunto de prácticas, políticas y controles diseñados para </a:t>
            </a:r>
            <a:r>
              <a:rPr lang="es-ES" sz="2000" b="1" dirty="0"/>
              <a:t>proteger la información contra accesos no autorizados, pérdida o alteración</a:t>
            </a:r>
            <a:r>
              <a:rPr lang="es-ES" sz="2000" dirty="0"/>
              <a:t>.</a:t>
            </a:r>
          </a:p>
          <a:p>
            <a:r>
              <a:rPr lang="es-ES" sz="2000" dirty="0"/>
              <a:t>Su objetivo es garantizar que los datos de una organización estén protegidos y disponibles cuando se necesiten.</a:t>
            </a:r>
          </a:p>
          <a:p>
            <a:r>
              <a:rPr lang="es-ES" sz="2000" dirty="0"/>
              <a:t>Es un aspecto fundamental en sistemas informáticos, empresas y desarrollo de software.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813741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717F7-2D55-7D17-AC3E-132C8C3F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1"/>
            <a:ext cx="11050544" cy="1219200"/>
          </a:xfrm>
        </p:spPr>
        <p:txBody>
          <a:bodyPr/>
          <a:lstStyle/>
          <a:p>
            <a:r>
              <a:rPr lang="es-ES" dirty="0"/>
              <a:t>Principios de la Seguridad de la Información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62EBE8-D804-FDD2-1F7A-1C68502B0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0" y="2286002"/>
            <a:ext cx="9904459" cy="3962397"/>
          </a:xfrm>
        </p:spPr>
        <p:txBody>
          <a:bodyPr>
            <a:noAutofit/>
          </a:bodyPr>
          <a:lstStyle/>
          <a:p>
            <a:r>
              <a:rPr lang="es-ES" sz="2000" dirty="0"/>
              <a:t>La seguridad de la información se basa en tres principios fundamentales:</a:t>
            </a:r>
          </a:p>
          <a:p>
            <a:r>
              <a:rPr lang="es-ES" sz="2000" b="1" dirty="0"/>
              <a:t>Confidencialidad</a:t>
            </a:r>
            <a:br>
              <a:rPr lang="es-ES" sz="2000" dirty="0"/>
            </a:br>
            <a:r>
              <a:rPr lang="es-ES" sz="2000" dirty="0"/>
              <a:t>La información solo puede ser accedida por personas autorizadas.</a:t>
            </a:r>
          </a:p>
          <a:p>
            <a:r>
              <a:rPr lang="es-ES" sz="2000" b="1" dirty="0"/>
              <a:t>Integridad</a:t>
            </a:r>
            <a:br>
              <a:rPr lang="es-ES" sz="2000" dirty="0"/>
            </a:br>
            <a:r>
              <a:rPr lang="es-ES" sz="2000" dirty="0"/>
              <a:t>La información debe mantenerse correcta y no ser modificada sin autorización.</a:t>
            </a:r>
          </a:p>
          <a:p>
            <a:r>
              <a:rPr lang="es-ES" sz="2000" b="1" dirty="0"/>
              <a:t>Disponibilidad</a:t>
            </a:r>
            <a:br>
              <a:rPr lang="es-ES" sz="2000" dirty="0"/>
            </a:br>
            <a:r>
              <a:rPr lang="es-ES" sz="2000" dirty="0"/>
              <a:t>Los sistemas y datos deben estar disponibles cuando los usuarios autorizados los necesiten.</a:t>
            </a:r>
          </a:p>
          <a:p>
            <a:endParaRPr lang="es-CO" sz="2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E9FFF8-3956-7264-4131-23641212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421" y="2286002"/>
            <a:ext cx="24384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304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7BBE8-5380-E0B0-26BC-CCFC90B04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371599"/>
          </a:xfrm>
        </p:spPr>
        <p:txBody>
          <a:bodyPr/>
          <a:lstStyle/>
          <a:p>
            <a:r>
              <a:rPr lang="es-ES" dirty="0"/>
              <a:t>Importancia en el desarrollo de software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B2D56E-54AC-DAD2-94C3-488C91861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1153" y="1295399"/>
            <a:ext cx="9904459" cy="6150427"/>
          </a:xfrm>
        </p:spPr>
        <p:txBody>
          <a:bodyPr>
            <a:noAutofit/>
          </a:bodyPr>
          <a:lstStyle/>
          <a:p>
            <a:r>
              <a:rPr lang="es-ES" sz="2000" dirty="0"/>
              <a:t>Los desarrolladores trabajan constantemente con: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repositorios de código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credenciales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bases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sistemas empresariales</a:t>
            </a:r>
          </a:p>
          <a:p>
            <a:r>
              <a:rPr lang="es-ES" sz="2000" dirty="0"/>
              <a:t>Un error en seguridad puede provocar: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filtración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pérdida de información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accesos no autorizados</a:t>
            </a:r>
          </a:p>
          <a:p>
            <a:r>
              <a:rPr lang="es-ES" sz="2000" dirty="0"/>
              <a:t>Por eso es fundamental aplicar buenas prácticas de seguridad.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518945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9860E-EC46-E2D2-0A3E-6EEE9E2C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208314"/>
          </a:xfrm>
        </p:spPr>
        <p:txBody>
          <a:bodyPr/>
          <a:lstStyle/>
          <a:p>
            <a:r>
              <a:rPr lang="es-ES" dirty="0"/>
              <a:t>¿Qué es ISO/IEC 27001?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EC9BFD-D94B-6F74-F14D-344A5F876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4581" y="1567544"/>
            <a:ext cx="9904459" cy="3722912"/>
          </a:xfrm>
        </p:spPr>
        <p:txBody>
          <a:bodyPr>
            <a:normAutofit/>
          </a:bodyPr>
          <a:lstStyle/>
          <a:p>
            <a:r>
              <a:rPr lang="es-ES" dirty="0"/>
              <a:t>ISO/IEC 27001 es un </a:t>
            </a:r>
            <a:r>
              <a:rPr lang="es-ES" b="1" dirty="0"/>
              <a:t>estándar internacional</a:t>
            </a:r>
            <a:r>
              <a:rPr lang="es-ES" dirty="0"/>
              <a:t> que establece cómo implementar un </a:t>
            </a:r>
            <a:r>
              <a:rPr lang="es-ES" b="1" dirty="0"/>
              <a:t>Sistema de Gestión de Seguridad de la Información (SGSI)</a:t>
            </a:r>
            <a:r>
              <a:rPr lang="es-ES" dirty="0"/>
              <a:t>.</a:t>
            </a:r>
          </a:p>
          <a:p>
            <a:r>
              <a:rPr lang="es-ES" dirty="0"/>
              <a:t>Este estándar ayuda a las organizaciones a </a:t>
            </a:r>
            <a:r>
              <a:rPr lang="es-ES" b="1" dirty="0"/>
              <a:t>proteger sus datos y gestionar riesgos relacionados con la información</a:t>
            </a:r>
            <a:r>
              <a:rPr lang="es-ES" dirty="0"/>
              <a:t>.</a:t>
            </a:r>
          </a:p>
          <a:p>
            <a:r>
              <a:rPr lang="es-ES" dirty="0"/>
              <a:t>Es uno de los marcos más utilizados en el mundo para la gestión de seguridad.</a:t>
            </a:r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924048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48D78-3ABE-1581-4A34-C88556C97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045029"/>
          </a:xfrm>
        </p:spPr>
        <p:txBody>
          <a:bodyPr/>
          <a:lstStyle/>
          <a:p>
            <a:r>
              <a:rPr lang="es-CO" dirty="0"/>
              <a:t>Objetivos de ISO 27001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544210-9BF1-9C23-B775-C7532EC0C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56" y="1981200"/>
            <a:ext cx="9904459" cy="3777341"/>
          </a:xfrm>
        </p:spPr>
        <p:txBody>
          <a:bodyPr>
            <a:normAutofit/>
          </a:bodyPr>
          <a:lstStyle/>
          <a:p>
            <a:r>
              <a:rPr lang="es-ES" sz="2000" dirty="0"/>
              <a:t>Los principales objetivos de ISO 27001 son: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proteger la información crítica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gestionar riesgos de seguridad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establecer controles de protección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mejorar continuamente la seguridad</a:t>
            </a:r>
          </a:p>
          <a:p>
            <a:r>
              <a:rPr lang="es-ES" sz="2000" dirty="0"/>
              <a:t>Esto permite que las organizaciones tengan </a:t>
            </a:r>
            <a:r>
              <a:rPr lang="es-ES" sz="2000" b="1" dirty="0"/>
              <a:t>procesos seguros y confiables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780782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767BD-09FA-9485-E95C-DEF37C7F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458686"/>
          </a:xfrm>
        </p:spPr>
        <p:txBody>
          <a:bodyPr/>
          <a:lstStyle/>
          <a:p>
            <a:r>
              <a:rPr lang="es-ES" dirty="0"/>
              <a:t>Sistema de Gestión de Seguridad de la Información (SGSI)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7C6B0B-8BB3-3483-96A2-D1BADBB56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5210" y="2198915"/>
            <a:ext cx="9904459" cy="5018313"/>
          </a:xfrm>
        </p:spPr>
        <p:txBody>
          <a:bodyPr>
            <a:normAutofit/>
          </a:bodyPr>
          <a:lstStyle/>
          <a:p>
            <a:r>
              <a:rPr lang="es-ES" dirty="0"/>
              <a:t>El </a:t>
            </a:r>
            <a:r>
              <a:rPr lang="es-ES" b="1" dirty="0"/>
              <a:t>SGSI</a:t>
            </a:r>
            <a:r>
              <a:rPr lang="es-ES" dirty="0"/>
              <a:t> es un conjunto de políticas, procedimientos y controles diseñados para gestionar la seguridad de la información.</a:t>
            </a:r>
          </a:p>
          <a:p>
            <a:r>
              <a:rPr lang="es-ES" dirty="0"/>
              <a:t>Incluye procesos como: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análisis de riesgos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implementación de controles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monitoreo de seguridad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mejora continua</a:t>
            </a:r>
          </a:p>
          <a:p>
            <a:r>
              <a:rPr lang="es-ES" dirty="0"/>
              <a:t>El objetivo es </a:t>
            </a:r>
            <a:r>
              <a:rPr lang="es-ES" b="1" dirty="0"/>
              <a:t>proteger la información de manera organizada y sistemática</a:t>
            </a:r>
            <a:r>
              <a:rPr lang="es-ES" dirty="0"/>
              <a:t>.</a:t>
            </a:r>
          </a:p>
          <a:p>
            <a:endParaRPr lang="es-CO" sz="8000" dirty="0"/>
          </a:p>
        </p:txBody>
      </p:sp>
    </p:spTree>
    <p:extLst>
      <p:ext uri="{BB962C8B-B14F-4D97-AF65-F5344CB8AC3E}">
        <p14:creationId xmlns:p14="http://schemas.microsoft.com/office/powerpoint/2010/main" val="365113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E6390-5547-8A65-3C95-F677E88E7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371599"/>
          </a:xfrm>
        </p:spPr>
        <p:txBody>
          <a:bodyPr/>
          <a:lstStyle/>
          <a:p>
            <a:r>
              <a:rPr lang="es-CO" dirty="0"/>
              <a:t>Componentes del SGSI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962185-7B38-D24E-A864-4B5F2187E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952" y="1741715"/>
            <a:ext cx="9904459" cy="4506685"/>
          </a:xfrm>
        </p:spPr>
        <p:txBody>
          <a:bodyPr>
            <a:noAutofit/>
          </a:bodyPr>
          <a:lstStyle/>
          <a:p>
            <a:r>
              <a:rPr lang="es-ES" sz="2000" dirty="0"/>
              <a:t>Un SGSI incluye:</a:t>
            </a:r>
          </a:p>
          <a:p>
            <a:r>
              <a:rPr lang="es-ES" sz="2000" b="1" dirty="0"/>
              <a:t>Políticas de seguridad</a:t>
            </a:r>
            <a:br>
              <a:rPr lang="es-ES" sz="2000" dirty="0"/>
            </a:br>
            <a:r>
              <a:rPr lang="es-ES" sz="2000" dirty="0"/>
              <a:t>Reglas que definen cómo debe protegerse la información.</a:t>
            </a:r>
          </a:p>
          <a:p>
            <a:r>
              <a:rPr lang="es-ES" sz="2000" b="1" dirty="0"/>
              <a:t>Gestión de riesgos</a:t>
            </a:r>
            <a:br>
              <a:rPr lang="es-ES" sz="2000" dirty="0"/>
            </a:br>
            <a:r>
              <a:rPr lang="es-ES" sz="2000" dirty="0"/>
              <a:t>Identificación y análisis de amenazas.</a:t>
            </a:r>
          </a:p>
          <a:p>
            <a:r>
              <a:rPr lang="es-ES" sz="2000" b="1" dirty="0"/>
              <a:t>Controles de seguridad</a:t>
            </a:r>
            <a:br>
              <a:rPr lang="es-ES" sz="2000" dirty="0"/>
            </a:br>
            <a:r>
              <a:rPr lang="es-ES" sz="2000" dirty="0"/>
              <a:t>Medidas para proteger los sistemas.</a:t>
            </a:r>
          </a:p>
          <a:p>
            <a:r>
              <a:rPr lang="es-ES" sz="2000" b="1" dirty="0"/>
              <a:t>Mejora continua</a:t>
            </a:r>
            <a:br>
              <a:rPr lang="es-ES" sz="2000" dirty="0"/>
            </a:br>
            <a:r>
              <a:rPr lang="es-ES" sz="2000" dirty="0"/>
              <a:t>Evaluar y mejorar constantemente la seguridad.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220337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E2213-79B4-9704-2B1D-C7A125A88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371599"/>
          </a:xfrm>
        </p:spPr>
        <p:txBody>
          <a:bodyPr/>
          <a:lstStyle/>
          <a:p>
            <a:r>
              <a:rPr lang="es-CO" dirty="0"/>
              <a:t>Controles de seguridad importantes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FACBCF-3936-538D-D040-DED647361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56" y="1817915"/>
            <a:ext cx="9904459" cy="4299856"/>
          </a:xfrm>
        </p:spPr>
        <p:txBody>
          <a:bodyPr>
            <a:noAutofit/>
          </a:bodyPr>
          <a:lstStyle/>
          <a:p>
            <a:r>
              <a:rPr lang="es-ES" sz="2000" dirty="0"/>
              <a:t>Algunos controles de seguridad fundamentales son: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control de acceso a sistemas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autenticación segura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registro de actividades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gestión de identidades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control de permisos</a:t>
            </a:r>
          </a:p>
          <a:p>
            <a:r>
              <a:rPr lang="es-ES" sz="2000" dirty="0"/>
              <a:t>Estos controles ayudan a </a:t>
            </a:r>
            <a:r>
              <a:rPr lang="es-ES" sz="2000" b="1" dirty="0"/>
              <a:t>evitar accesos no autorizados y ataques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032238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F84FE-05B0-A6CE-484C-109B9549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240971"/>
          </a:xfrm>
        </p:spPr>
        <p:txBody>
          <a:bodyPr/>
          <a:lstStyle/>
          <a:p>
            <a:r>
              <a:rPr lang="es-ES" dirty="0"/>
              <a:t>Seguridad en entornos de desarrollo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D9440A-3AEA-2315-1195-C978479B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850571"/>
            <a:ext cx="9904459" cy="3940628"/>
          </a:xfrm>
        </p:spPr>
        <p:txBody>
          <a:bodyPr>
            <a:normAutofit/>
          </a:bodyPr>
          <a:lstStyle/>
          <a:p>
            <a:r>
              <a:rPr lang="es-ES" sz="2000" dirty="0"/>
              <a:t>En entornos de desarrollo de software se aplican controles como: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acceso restringido a repositorios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autenticación </a:t>
            </a:r>
            <a:r>
              <a:rPr lang="es-ES" sz="2000" dirty="0" err="1"/>
              <a:t>multifactor</a:t>
            </a: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control de versiones en Git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permisos por roles</a:t>
            </a:r>
          </a:p>
          <a:p>
            <a:r>
              <a:rPr lang="es-ES" sz="2000" dirty="0"/>
              <a:t>Estas prácticas reducen el riesgo de </a:t>
            </a:r>
            <a:r>
              <a:rPr lang="es-ES" sz="2000" b="1" dirty="0"/>
              <a:t>manipulación del código o filtración de datos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585371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040AA-4679-8619-18F0-9C5FBB973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088571"/>
          </a:xfrm>
        </p:spPr>
        <p:txBody>
          <a:bodyPr/>
          <a:lstStyle/>
          <a:p>
            <a:r>
              <a:rPr lang="es-CO" dirty="0"/>
              <a:t>¿Qué es COBIT 5?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AA67FD-89D3-9831-7C50-126C2C87A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937657"/>
            <a:ext cx="9904459" cy="3853541"/>
          </a:xfrm>
        </p:spPr>
        <p:txBody>
          <a:bodyPr>
            <a:normAutofit/>
          </a:bodyPr>
          <a:lstStyle/>
          <a:p>
            <a:r>
              <a:rPr lang="es-ES" sz="2000" dirty="0"/>
              <a:t>COBIT 5 es un marco internacional para el </a:t>
            </a:r>
            <a:r>
              <a:rPr lang="es-ES" sz="2000" b="1" dirty="0"/>
              <a:t>gobierno y gestión de tecnologías de la información</a:t>
            </a:r>
            <a:r>
              <a:rPr lang="es-ES" sz="2000" dirty="0"/>
              <a:t>.</a:t>
            </a:r>
          </a:p>
          <a:p>
            <a:r>
              <a:rPr lang="es-ES" sz="2000" dirty="0"/>
              <a:t>Su objetivo es ayudar a las organizaciones a </a:t>
            </a:r>
            <a:r>
              <a:rPr lang="es-ES" sz="2000" b="1" dirty="0"/>
              <a:t>gestionar la tecnología de manera eficiente, segura y alineada con los objetivos del negocio</a:t>
            </a:r>
            <a:r>
              <a:rPr lang="es-ES" sz="2000" dirty="0"/>
              <a:t>.</a:t>
            </a:r>
          </a:p>
          <a:p>
            <a:r>
              <a:rPr lang="es-ES" sz="2000" dirty="0"/>
              <a:t>COBIT es ampliamente utilizado para </a:t>
            </a:r>
            <a:r>
              <a:rPr lang="es-ES" sz="2000" b="1" dirty="0"/>
              <a:t>controlar riesgos tecnológicos y mejorar la gestión de TI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788566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7AF17-AC3E-1543-33E5-BA60ED85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153886"/>
          </a:xfrm>
        </p:spPr>
        <p:txBody>
          <a:bodyPr/>
          <a:lstStyle/>
          <a:p>
            <a:r>
              <a:rPr lang="es-CO" dirty="0"/>
              <a:t>Objetivos de COBIT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7859BE-06DA-9537-D68C-E06300F77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770" y="1763486"/>
            <a:ext cx="9904459" cy="3777341"/>
          </a:xfrm>
        </p:spPr>
        <p:txBody>
          <a:bodyPr>
            <a:noAutofit/>
          </a:bodyPr>
          <a:lstStyle/>
          <a:p>
            <a:r>
              <a:rPr lang="es-ES" sz="2000" dirty="0"/>
              <a:t>COBIT busca: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mejorar la gestión de 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reducir riesgos tecnológicos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alinear la tecnología con los objetivos del negocio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garantizar control y cumplimiento</a:t>
            </a:r>
          </a:p>
          <a:p>
            <a:r>
              <a:rPr lang="es-ES" sz="2000" dirty="0"/>
              <a:t>Esto permite que la tecnología apoye correctamente las operaciones de una organización.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4232708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80094-194D-3A34-63A7-0312CD5D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186543"/>
          </a:xfrm>
        </p:spPr>
        <p:txBody>
          <a:bodyPr/>
          <a:lstStyle/>
          <a:p>
            <a:r>
              <a:rPr lang="es-CO" dirty="0"/>
              <a:t>Principios de COBIT 5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0A830-ABC3-B119-05F7-13F0A207D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56" y="1676400"/>
            <a:ext cx="9904459" cy="4365169"/>
          </a:xfrm>
        </p:spPr>
        <p:txBody>
          <a:bodyPr>
            <a:normAutofit/>
          </a:bodyPr>
          <a:lstStyle/>
          <a:p>
            <a:r>
              <a:rPr lang="es-ES" sz="2000" dirty="0"/>
              <a:t>COBIT 5 se basa en cinco principios: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satisfacer las necesidades de las partes interesadas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cubrir la empresa de extremo a extremo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aplicar un marco integrado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permitir un enfoque holístico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separar gobierno de gestión</a:t>
            </a:r>
          </a:p>
          <a:p>
            <a:r>
              <a:rPr lang="es-ES" sz="2000" dirty="0"/>
              <a:t>Estos principios permiten una </a:t>
            </a:r>
            <a:r>
              <a:rPr lang="es-ES" sz="2000" b="1" dirty="0"/>
              <a:t>gestión eficiente de la tecnología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911555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D6705-E7F9-3DFC-8BB9-601AA8AF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371599"/>
          </a:xfrm>
        </p:spPr>
        <p:txBody>
          <a:bodyPr/>
          <a:lstStyle/>
          <a:p>
            <a:r>
              <a:rPr lang="es-ES" dirty="0"/>
              <a:t>Relación entre Seguridad y Gobierno de TI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E273DB-186A-CF09-06A9-7A7AA6074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894114"/>
            <a:ext cx="9904459" cy="4571999"/>
          </a:xfrm>
        </p:spPr>
        <p:txBody>
          <a:bodyPr>
            <a:noAutofit/>
          </a:bodyPr>
          <a:lstStyle/>
          <a:p>
            <a:r>
              <a:rPr lang="es-ES" sz="2000" dirty="0"/>
              <a:t>El gobierno de TI y la seguridad de la información están estrechamente relacionados.</a:t>
            </a:r>
          </a:p>
          <a:p>
            <a:r>
              <a:rPr lang="es-ES" sz="2000" dirty="0"/>
              <a:t>El gobierno de TI define: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políticas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controles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estrategias tecnológicas</a:t>
            </a:r>
          </a:p>
          <a:p>
            <a:r>
              <a:rPr lang="es-ES" sz="2000" dirty="0"/>
              <a:t>La seguridad se encarga de </a:t>
            </a:r>
            <a:r>
              <a:rPr lang="es-ES" sz="2000" b="1" dirty="0"/>
              <a:t>proteger la información y los sistemas</a:t>
            </a:r>
            <a:r>
              <a:rPr lang="es-ES" sz="2000" dirty="0"/>
              <a:t> mediante controles y buenas prácticas.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95666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AF6CF-6E56-CF80-C68C-562B1488C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371599"/>
          </a:xfrm>
        </p:spPr>
        <p:txBody>
          <a:bodyPr/>
          <a:lstStyle/>
          <a:p>
            <a:r>
              <a:rPr lang="es-ES" dirty="0"/>
              <a:t>Ejemplos de incidentes de seguridad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6F0FC7-DCAD-F26E-6725-D3C6AE66B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981199"/>
            <a:ext cx="9904459" cy="3810000"/>
          </a:xfrm>
        </p:spPr>
        <p:txBody>
          <a:bodyPr>
            <a:normAutofit/>
          </a:bodyPr>
          <a:lstStyle/>
          <a:p>
            <a:r>
              <a:rPr lang="es-ES" sz="2000" dirty="0"/>
              <a:t>Algunos incidentes comunes en seguridad son: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robo de credenciales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acceso no autorizado a sistemas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manipulación de repositorios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filtración de datos</a:t>
            </a:r>
          </a:p>
          <a:p>
            <a:r>
              <a:rPr lang="es-ES" sz="2000" dirty="0"/>
              <a:t>Muchos de estos incidentes ocurren por </a:t>
            </a:r>
            <a:r>
              <a:rPr lang="es-ES" sz="2000" b="1" dirty="0"/>
              <a:t>errores humanos o malas prácticas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85431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3DB28-199E-6292-465F-EDAEA70E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371599"/>
          </a:xfrm>
        </p:spPr>
        <p:txBody>
          <a:bodyPr/>
          <a:lstStyle/>
          <a:p>
            <a:r>
              <a:rPr lang="es-CO" dirty="0"/>
              <a:t>Buenas prácticas de seguridad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D4ADB-03F4-3D6E-0E39-D8F4699F7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2231571"/>
            <a:ext cx="9904459" cy="4278086"/>
          </a:xfrm>
        </p:spPr>
        <p:txBody>
          <a:bodyPr>
            <a:normAutofit/>
          </a:bodyPr>
          <a:lstStyle/>
          <a:p>
            <a:r>
              <a:rPr lang="es-ES" sz="2000" dirty="0"/>
              <a:t>Algunas buenas prácticas son: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cambiar contraseñas periódicamente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no dejar sesiones abiertas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activar autenticación </a:t>
            </a:r>
            <a:r>
              <a:rPr lang="es-ES" sz="2000" dirty="0" err="1"/>
              <a:t>multifactor</a:t>
            </a: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bloquear el equipo al ausentarse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no compartir credenciales</a:t>
            </a:r>
          </a:p>
          <a:p>
            <a:r>
              <a:rPr lang="es-ES" sz="2000" dirty="0"/>
              <a:t>Estas prácticas ayudan a </a:t>
            </a:r>
            <a:r>
              <a:rPr lang="es-ES" sz="2000" b="1" dirty="0"/>
              <a:t>reducir riesgos de seguridad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054441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7AC10-C56B-D85E-79DC-CA6A5EDF2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153886"/>
          </a:xfrm>
        </p:spPr>
        <p:txBody>
          <a:bodyPr/>
          <a:lstStyle/>
          <a:p>
            <a:r>
              <a:rPr lang="es-CO" dirty="0"/>
              <a:t>Recomendaciones para desarrolladores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5D60E1-02A4-454C-A5C0-EB361C3FC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611086"/>
            <a:ext cx="9904459" cy="4180113"/>
          </a:xfrm>
        </p:spPr>
        <p:txBody>
          <a:bodyPr>
            <a:normAutofit/>
          </a:bodyPr>
          <a:lstStyle/>
          <a:p>
            <a:r>
              <a:rPr lang="es-ES" sz="2000" dirty="0"/>
              <a:t>Los desarrolladores deben: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proteger sus repositorios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usar gestores de contraseñas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aplicar el principio de mínimo privilegio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revisar permisos de acceso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utilizar autenticación </a:t>
            </a:r>
            <a:r>
              <a:rPr lang="es-ES" sz="2000" dirty="0" err="1"/>
              <a:t>multifactor</a:t>
            </a:r>
            <a:endParaRPr lang="es-ES" sz="2000" dirty="0"/>
          </a:p>
          <a:p>
            <a:r>
              <a:rPr lang="es-ES" sz="2000" dirty="0"/>
              <a:t>Esto mejora la </a:t>
            </a:r>
            <a:r>
              <a:rPr lang="es-ES" sz="2000" b="1" dirty="0"/>
              <a:t>seguridad en proyectos de software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9095207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160D5-18AE-3A54-FE21-A6729623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1371599"/>
          </a:xfrm>
        </p:spPr>
        <p:txBody>
          <a:bodyPr/>
          <a:lstStyle/>
          <a:p>
            <a:r>
              <a:rPr lang="es-CO" dirty="0"/>
              <a:t>Test interactivo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C367D8-0131-0C60-F329-787BFC593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981199"/>
            <a:ext cx="9904459" cy="3809999"/>
          </a:xfrm>
        </p:spPr>
        <p:txBody>
          <a:bodyPr>
            <a:normAutofit/>
          </a:bodyPr>
          <a:lstStyle/>
          <a:p>
            <a:r>
              <a:rPr lang="es-ES" sz="2000" dirty="0"/>
              <a:t>Preguntas para los compañeros: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¿Qué significa confidencialidad en seguridad de la información?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¿Qué estándar se utiliza para implementar un SGSI?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¿Qué es COBIT?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¿Por qué es peligroso dejar una sesión abierta?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dirty="0"/>
              <a:t>¿Qué es la autenticación </a:t>
            </a:r>
            <a:r>
              <a:rPr lang="es-ES" sz="2000" dirty="0" err="1"/>
              <a:t>multifactor</a:t>
            </a:r>
            <a:r>
              <a:rPr lang="es-ES" sz="2000" dirty="0"/>
              <a:t>?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23959656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BA74B-C619-8E57-A97D-E13659845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570" y="1251858"/>
            <a:ext cx="3789773" cy="914400"/>
          </a:xfrm>
        </p:spPr>
        <p:txBody>
          <a:bodyPr/>
          <a:lstStyle/>
          <a:p>
            <a:r>
              <a:rPr lang="es-CO" dirty="0"/>
              <a:t>Conclusión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3859A5-8076-38DD-097F-998CD63C0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9914" y="2166258"/>
            <a:ext cx="9904459" cy="3276598"/>
          </a:xfrm>
        </p:spPr>
        <p:txBody>
          <a:bodyPr>
            <a:normAutofit/>
          </a:bodyPr>
          <a:lstStyle/>
          <a:p>
            <a:r>
              <a:rPr lang="es-ES" sz="2000" dirty="0"/>
              <a:t>La seguridad de la información es una responsabilidad de todos los usuarios.</a:t>
            </a:r>
          </a:p>
          <a:p>
            <a:r>
              <a:rPr lang="es-ES" sz="2000" dirty="0"/>
              <a:t>Los errores humanos pueden causar incidentes graves en los sistemas.</a:t>
            </a:r>
          </a:p>
          <a:p>
            <a:r>
              <a:rPr lang="es-ES" sz="2000" dirty="0" err="1"/>
              <a:t>Frameworks</a:t>
            </a:r>
            <a:r>
              <a:rPr lang="es-ES" sz="2000" dirty="0"/>
              <a:t> como </a:t>
            </a:r>
            <a:r>
              <a:rPr lang="es-ES" sz="2000" b="1" dirty="0"/>
              <a:t>ISO 27001</a:t>
            </a:r>
            <a:r>
              <a:rPr lang="es-ES" sz="2000" dirty="0"/>
              <a:t> y </a:t>
            </a:r>
            <a:r>
              <a:rPr lang="es-ES" sz="2000" b="1" dirty="0"/>
              <a:t>COBIT 5</a:t>
            </a:r>
            <a:r>
              <a:rPr lang="es-ES" sz="2000" dirty="0"/>
              <a:t> ayudan a gestionar riesgos y mejorar la seguridad.</a:t>
            </a:r>
          </a:p>
          <a:p>
            <a:r>
              <a:rPr lang="es-ES" sz="2000" dirty="0"/>
              <a:t>Aplicar buenas prácticas permite proteger </a:t>
            </a:r>
            <a:r>
              <a:rPr lang="es-ES" sz="2000" b="1" dirty="0"/>
              <a:t>sistemas, información y organizaciones</a:t>
            </a:r>
            <a:r>
              <a:rPr lang="es-ES" sz="2000" dirty="0"/>
              <a:t>.</a:t>
            </a:r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423984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117</TotalTime>
  <Words>1041</Words>
  <Application>Microsoft Office PowerPoint</Application>
  <PresentationFormat>Panorámica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Tw Cen MT</vt:lpstr>
      <vt:lpstr>Circuito</vt:lpstr>
      <vt:lpstr>Seguridad de la Información y Gobierno de TI   ISO/IEC 27001 y COBIT 5 Actividad académica – Buenas prácticas de seguridad  Presentado por: Camilo Guilombo </vt:lpstr>
      <vt:lpstr>Contexto del problema</vt:lpstr>
      <vt:lpstr>¿Por qué es un problema de seguridad?</vt:lpstr>
      <vt:lpstr>¿Qué es la Seguridad de la Información?</vt:lpstr>
      <vt:lpstr>Principios de la Seguridad de la Información</vt:lpstr>
      <vt:lpstr>Importancia en el desarrollo de software</vt:lpstr>
      <vt:lpstr>¿Qué es ISO/IEC 27001?</vt:lpstr>
      <vt:lpstr>Objetivos de ISO 27001</vt:lpstr>
      <vt:lpstr>Sistema de Gestión de Seguridad de la Información (SGSI)</vt:lpstr>
      <vt:lpstr>Componentes del SGSI</vt:lpstr>
      <vt:lpstr>Controles de seguridad importantes</vt:lpstr>
      <vt:lpstr>Seguridad en entornos de desarrollo</vt:lpstr>
      <vt:lpstr>¿Qué es COBIT 5?</vt:lpstr>
      <vt:lpstr>Objetivos de COBIT</vt:lpstr>
      <vt:lpstr>Principios de COBIT 5</vt:lpstr>
      <vt:lpstr>Relación entre Seguridad y Gobierno de TI</vt:lpstr>
      <vt:lpstr>Ejemplos de incidentes de seguridad</vt:lpstr>
      <vt:lpstr>Buenas prácticas de seguridad</vt:lpstr>
      <vt:lpstr>Recomendaciones para desarrolladores</vt:lpstr>
      <vt:lpstr>Test interactivo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camilo guilombo osorio</dc:creator>
  <cp:lastModifiedBy>juan camilo guilombo osorio</cp:lastModifiedBy>
  <cp:revision>2</cp:revision>
  <dcterms:created xsi:type="dcterms:W3CDTF">2026-03-16T14:19:32Z</dcterms:created>
  <dcterms:modified xsi:type="dcterms:W3CDTF">2026-03-16T16:17:23Z</dcterms:modified>
</cp:coreProperties>
</file>